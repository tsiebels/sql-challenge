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73152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CADCFC"/>
                </a:solidFill>
                <a:latin typeface="Georgia"/>
              </a:defRPr>
            </a:pPr>
            <a:r>
              <a:t>Welcome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800" b="1">
                <a:solidFill>
                  <a:srgbClr val="FFFFFF"/>
                </a:solidFill>
                <a:latin typeface="Georgia"/>
              </a:defRPr>
            </a:pPr>
            <a:r>
              <a:t>SQL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0">
                <a:solidFill>
                  <a:srgbClr val="02C39A"/>
                </a:solidFill>
                <a:latin typeface="Georgia"/>
              </a:defRPr>
            </a:pPr>
            <a:r>
              <a:t>Q2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371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02C39A"/>
                </a:solidFill>
                <a:latin typeface="Georgia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8745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CADCFC"/>
                </a:solidFill>
                <a:latin typeface="Calibri"/>
              </a:defRPr>
            </a:pPr>
            <a:r>
              <a:t>weeks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6060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02C39A"/>
                </a:solidFill>
                <a:latin typeface="Georgia"/>
              </a:defRPr>
            </a:pPr>
            <a:r>
              <a:t>~15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CADCFC"/>
                </a:solidFill>
                <a:latin typeface="Calibri"/>
              </a:defRPr>
            </a:pPr>
            <a:r>
              <a:t>minutes per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8404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02C39A"/>
                </a:solidFill>
                <a:latin typeface="Georgia"/>
              </a:defRPr>
            </a:pPr>
            <a:r>
              <a:t>100K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CADCFC"/>
                </a:solidFill>
                <a:latin typeface="Calibri"/>
              </a:defRPr>
            </a:pPr>
            <a:r>
              <a:t>real 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50749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02C39A"/>
                </a:solidFill>
                <a:latin typeface="Georgia"/>
              </a:defRPr>
            </a:pPr>
            <a:r>
              <a:t>Instant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CADCFC"/>
                </a:solidFill>
                <a:latin typeface="Calibri"/>
              </a:defRPr>
            </a:pPr>
            <a:r>
              <a:t>feedback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21295C"/>
                </a:solidFill>
                <a:latin typeface="Georgia"/>
              </a:defRPr>
            </a:pPr>
            <a:r>
              <a:t>What is this?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4846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64008" cy="1920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65A82"/>
                </a:solidFill>
                <a:latin typeface="Georgia"/>
              </a:defRPr>
            </a:pPr>
            <a:r>
              <a:t>Self-paced SQL upskilling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A 13-week challenge for the analytics team.</a:t>
            </a:r>
            <a:br/>
            <a:r>
              <a:t>Short notebooks, real data, no pressure.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645920"/>
            <a:ext cx="4846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0" y="1645920"/>
            <a:ext cx="64008" cy="1920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18288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65A82"/>
                </a:solidFill>
                <a:latin typeface="Georgia"/>
              </a:defRPr>
            </a:pPr>
            <a:r>
              <a:t>Build real 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233172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By week 13, you'll have a production-ready</a:t>
            </a:r>
            <a:br/>
            <a:r>
              <a:t>analytics script covering revenue, retention,</a:t>
            </a:r>
            <a:br/>
            <a:r>
              <a:t>funnels, and customer segmentation.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4846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64008" cy="1920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65A82"/>
                </a:solidFill>
                <a:latin typeface="Georgia"/>
              </a:defRPr>
            </a:pPr>
            <a:r>
              <a:t>No strict deadlines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Work at your own pace. Each week is</a:t>
            </a:r>
            <a:br/>
            <a:r>
              <a:t>designed to take around 15 minutes.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3931920"/>
            <a:ext cx="4846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3931920"/>
            <a:ext cx="64008" cy="1920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41148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65A82"/>
                </a:solidFill>
                <a:latin typeface="Georgia"/>
              </a:defRPr>
            </a:pPr>
            <a:r>
              <a:t>Resubmit anytime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461772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Submit tasks as many times as you like.</a:t>
            </a:r>
            <a:br/>
            <a:r>
              <a:t>Only your highest score is kept.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21295C"/>
                </a:solidFill>
                <a:latin typeface="Georgia"/>
              </a:defRPr>
            </a:pPr>
            <a:r>
              <a:t>Getting Started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" y="1828800"/>
            <a:ext cx="731520" cy="7315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65A82"/>
                </a:solidFill>
                <a:latin typeface="Georgia"/>
              </a:defRPr>
            </a:pPr>
            <a:r>
              <a:t>Find the folder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Look for "SQL Challenge - Q2 2026"</a:t>
            </a:r>
            <a:br/>
            <a:r>
              <a:t>in Snowflake Notebooks.</a:t>
            </a:r>
          </a:p>
        </p:txBody>
      </p:sp>
      <p:sp>
        <p:nvSpPr>
          <p:cNvPr id="7" name="Oval 6"/>
          <p:cNvSpPr/>
          <p:nvPr/>
        </p:nvSpPr>
        <p:spPr>
          <a:xfrm>
            <a:off x="4663440" y="1828800"/>
            <a:ext cx="731520" cy="7315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65A82"/>
                </a:solidFill>
                <a:latin typeface="Georgia"/>
              </a:defRPr>
            </a:pPr>
            <a:r>
              <a:t>Copy to your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3832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Click the ellipses (...) on the folder</a:t>
            </a:r>
            <a:br/>
            <a:r>
              <a:t>and select COPY TO &gt; My Workspace.</a:t>
            </a:r>
          </a:p>
        </p:txBody>
      </p:sp>
      <p:sp>
        <p:nvSpPr>
          <p:cNvPr id="10" name="Oval 9"/>
          <p:cNvSpPr/>
          <p:nvPr/>
        </p:nvSpPr>
        <p:spPr>
          <a:xfrm>
            <a:off x="8321040" y="1828800"/>
            <a:ext cx="731520" cy="7315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65A82"/>
                </a:solidFill>
                <a:latin typeface="Georgia"/>
              </a:defRPr>
            </a:pPr>
            <a:r>
              <a:t>Start working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3832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You now have your own copy of all 13 weekly</a:t>
            </a:r>
            <a:br/>
            <a:r>
              <a:t>notebooks. Edits won't affect the originals.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21295C"/>
                </a:solidFill>
                <a:latin typeface="Georgia"/>
              </a:defRPr>
            </a:pPr>
            <a:r>
              <a:t>Your Snowflake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Run this at the start of every session: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640080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A5F3FC"/>
                </a:solidFill>
                <a:latin typeface="Consolas"/>
              </a:defRPr>
            </a:pPr>
            <a:r>
              <a:t>USE ROLE      ANALYTICS_TEAM_ROLE;</a:t>
            </a:r>
            <a:br/>
            <a:r>
              <a:t>USE WAREHOUSE ANALYTICS_TEAM_WH;</a:t>
            </a:r>
            <a:br/>
            <a:r>
              <a:t>USE DATABASE  ANALYTICS_TEAM_DB;</a:t>
            </a:r>
            <a:br/>
            <a:r>
              <a:t>USE SCHEMA    ANALYTICS_TEAM_DB.SQL_CHALLENGE;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89520" y="2011680"/>
          <a:ext cx="4114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920240"/>
                <a:gridCol w="11887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Setting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is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ANALYTICS_TEAM_ROLE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Permissions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Warehouse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ANALYTICS_TEAM_WH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Compute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ANALYTICS_TEAM_DB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Data 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Schema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SQL_CHALLENGE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Challenge data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21295C"/>
                </a:solidFill>
                <a:latin typeface="Georgia"/>
              </a:defRPr>
            </a:pPr>
            <a:r>
              <a:t>The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Olist Brazilian E-Commerce</a:t>
            </a:r>
            <a:br/>
            <a:r>
              <a:t>~100,000 real orders from 2016-2018</a:t>
            </a:r>
            <a:br/>
            <a:r>
              <a:t>9 tables in the SQL_CHALLENGE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5200" b="1">
                <a:solidFill>
                  <a:srgbClr val="065A82"/>
                </a:solidFill>
                <a:latin typeface="Georgia"/>
              </a:defRPr>
            </a:pPr>
            <a:r>
              <a:t>100K+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real orders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56032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371600"/>
                <a:gridCol w="521208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Rows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OLIST_ORDERS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99,441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Order status and timestamps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OLIST_CUSTOMERS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99,441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Customer location and ID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OLIST_ORDER_ITEMS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112,650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Line items, price, seller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OLIST_ORDER_PAYMENTS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103,886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Payment method and value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OLIST_ORDER_REVIEWS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99,224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Review scores and comments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OLIST_PRODUCTS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32,951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Product details and category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OLIST_SELLERS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3,095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Seller location and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OLIST_GEOLOCATION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1,000,163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ZIP code lat/long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PRODUCT_CATEGORY_NAME_TRANSLATION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Category name translations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How the Tables Connect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0" y="2926080"/>
            <a:ext cx="2743200" cy="640080"/>
          </a:xfrm>
          <a:prstGeom prst="rect">
            <a:avLst/>
          </a:prstGeom>
          <a:solidFill>
            <a:srgbClr val="065A82"/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OLIST_ORDERS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256032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4A9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OLIST_CUSTOMERS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0" y="1371600"/>
            <a:ext cx="256032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4A9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OLIST_PRODUCTS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27432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4A9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OLIST_ORDER_ITEMS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2926080"/>
            <a:ext cx="27432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4A9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OLIST_ORDER_PAYMENTS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572000"/>
            <a:ext cx="256032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4A9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OLIST_SELLERS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572000"/>
            <a:ext cx="256032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4A9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OLIST_ORDER_REVIEWS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4572000"/>
            <a:ext cx="292608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4A9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PRODUCT_CATEGORY</a:t>
            </a:r>
            <a:br/>
            <a:r>
              <a:t>_NAME_TRANSLATION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286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02C39A"/>
                </a:solidFill>
                <a:latin typeface="Consolas"/>
              </a:defRPr>
            </a:pPr>
            <a:r>
              <a:t>customer_id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108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02C39A"/>
                </a:solidFill>
                <a:latin typeface="Consolas"/>
              </a:defRPr>
            </a:pPr>
            <a:r>
              <a:t>order_id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108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02C39A"/>
                </a:solidFill>
                <a:latin typeface="Consolas"/>
              </a:defRPr>
            </a:pPr>
            <a:r>
              <a:t>order_id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840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02C39A"/>
                </a:solidFill>
                <a:latin typeface="Consolas"/>
              </a:defRPr>
            </a:pPr>
            <a:r>
              <a:t>order_id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57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02C39A"/>
                </a:solidFill>
                <a:latin typeface="Consolas"/>
              </a:defRPr>
            </a:pPr>
            <a:r>
              <a:t>seller_id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194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02C39A"/>
                </a:solidFill>
                <a:latin typeface="Consolas"/>
              </a:defRPr>
            </a:pPr>
            <a:r>
              <a:t>product_id / category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CADCFC"/>
                </a:solidFill>
                <a:latin typeface="Calibri"/>
              </a:defRPr>
            </a:pPr>
            <a:r>
              <a:t>Weeks 1-3 use only OLIST_ORDERS and OLIST_CUSTOMERS. New tables are introduced gradually.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21295C"/>
                </a:solidFill>
                <a:latin typeface="Georgia"/>
              </a:defRPr>
            </a:pPr>
            <a:r>
              <a:t>Verify Your Access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Run these three checks. If any return an error, let the challenge organiser know.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338328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38328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065A82"/>
                </a:solidFill>
                <a:latin typeface="Georgia"/>
              </a:defRPr>
            </a:pPr>
            <a:r>
              <a:t>Check 1: See the tables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017520"/>
            <a:ext cx="301752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2651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A5F3FC"/>
                </a:solidFill>
                <a:latin typeface="Consolas"/>
              </a:defRPr>
            </a:pPr>
            <a:r>
              <a:t>SHOW TABLES IN SCHEMA</a:t>
            </a:r>
            <a:br/>
            <a:r>
              <a:t>ANALYTICS_TEAM_DB.SQL_CHALLENGE;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103120"/>
            <a:ext cx="338328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2103120"/>
            <a:ext cx="338328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23774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065A82"/>
                </a:solidFill>
                <a:latin typeface="Georgia"/>
              </a:defRPr>
            </a:pPr>
            <a:r>
              <a:t>Check 2: Query orders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3017520"/>
            <a:ext cx="301752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3200400"/>
            <a:ext cx="2651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A5F3FC"/>
                </a:solidFill>
                <a:latin typeface="Consolas"/>
              </a:defRPr>
            </a:pPr>
            <a:r>
              <a:t>SELECT COUNT(*) AS total_orders</a:t>
            </a:r>
            <a:br/>
            <a:r>
              <a:t>FROM ANALYTICS_TEAM_DB</a:t>
            </a:r>
            <a:br/>
            <a:r>
              <a:t>  .SQL_CHALLENGE.OLIST_ORDERS;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103120"/>
            <a:ext cx="338328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103120"/>
            <a:ext cx="338328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3774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065A82"/>
                </a:solidFill>
                <a:latin typeface="Georgia"/>
              </a:defRPr>
            </a:pPr>
            <a:r>
              <a:t>Check 3: Test submission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3017520"/>
            <a:ext cx="301752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3200400"/>
            <a:ext cx="2651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A5F3FC"/>
                </a:solidFill>
                <a:latin typeface="Consolas"/>
              </a:defRPr>
            </a:pPr>
            <a:r>
              <a:t>CALL ANALYTICS_TEAM_DB</a:t>
            </a:r>
            <a:br/>
            <a:r>
              <a:t>  .SQL_CHALLENGE.SUBMIT(</a:t>
            </a:r>
            <a:br/>
            <a:r>
              <a:t>  'test', 0, 0,</a:t>
            </a:r>
            <a:br/>
            <a:r>
              <a:t>  $$ SELECT 1 AS test $$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21295C"/>
                </a:solidFill>
                <a:latin typeface="Georgia"/>
              </a:defRPr>
            </a:pPr>
            <a:r>
              <a:t>How Submitting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48640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A5F3FC"/>
                </a:solidFill>
                <a:latin typeface="Consolas"/>
              </a:defRPr>
            </a:pPr>
            <a:r>
              <a:t>CALL ANALYTICS_TEAM_DB.SQL_CHALLENGE.SUBMIT(</a:t>
            </a:r>
            <a:br/>
            <a:r>
              <a:t>    CURRENT_USER(),  -- your name</a:t>
            </a:r>
            <a:br/>
            <a:r>
              <a:t>    1,               -- week number</a:t>
            </a:r>
            <a:br/>
            <a:r>
              <a:t>    1,               -- task number</a:t>
            </a:r>
            <a:br/>
            <a:r>
              <a:t>    $$</a:t>
            </a:r>
            <a:br/>
            <a:r>
              <a:t>        SELECT ...</a:t>
            </a:r>
            <a:br/>
            <a:r>
              <a:t>    $$</a:t>
            </a:r>
            <a:br/>
            <a:r>
              <a:t>);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645920"/>
            <a:ext cx="475488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75120" y="1645920"/>
            <a:ext cx="64008" cy="1280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7830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065A82"/>
                </a:solidFill>
                <a:latin typeface="Georgia"/>
              </a:defRPr>
            </a:pPr>
            <a:r>
              <a:t>Instant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14884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Results pane shows your score</a:t>
            </a:r>
            <a:br/>
            <a:r>
              <a:t>and hints for anything that</a:t>
            </a:r>
            <a:br/>
            <a:r>
              <a:t>didn't pass.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3200400"/>
            <a:ext cx="475488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0" y="3200400"/>
            <a:ext cx="64008" cy="1280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33375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065A82"/>
                </a:solidFill>
                <a:latin typeface="Georgia"/>
              </a:defRPr>
            </a:pPr>
            <a:r>
              <a:t>Resubmit freely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7033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Only your best score per task</a:t>
            </a:r>
            <a:br/>
            <a:r>
              <a:t>is saved. No penalty for retrying.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4754880"/>
            <a:ext cx="475488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4754880"/>
            <a:ext cx="64008" cy="1280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48920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065A82"/>
                </a:solidFill>
                <a:latin typeface="Georgia"/>
              </a:defRPr>
            </a:pPr>
            <a:r>
              <a:t>Watch for gotchas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525780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Exclude the semicolon at the end</a:t>
            </a:r>
            <a:br/>
            <a:r>
              <a:t>of your query. Remove comment</a:t>
            </a:r>
            <a:br/>
            <a:r>
              <a:t>lines or the procedure will fail.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Tip: Click on the result output — it opens a sidebar that makes the feedback JSON more readable.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21295C"/>
                </a:solidFill>
                <a:latin typeface="Georgia"/>
              </a:defRPr>
            </a:pPr>
            <a:r>
              <a:t>The 13-Week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5029200"/>
                <a:gridCol w="493776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Topic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New Tables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SELECT, WHERE, ORDER BY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OLIST_ORDERS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GROUP BY, COUNT, SUM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OLIST_ORDERS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JOINs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OLIST_CUSTOMERS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Subqueries and CTEs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OLIST_ORDER_ITEMS, OLIST_ORDER_PAYMENTS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Window functions — ROW_NUMBER, RANK, QUALIFY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LAG, LEAD, running totals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Cohort analysis and retention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OLIST_ORDER_REVIEWS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Funnel analysis and conversion rates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OLIST_PRODUCTS, OLIST_SELLERS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RFM customer segmentation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Data quality, NULLs, deduplication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OLIST_GEOLOCATION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Query performance and QUERY_HISTORY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Combining all layers into one script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PRODUCT_CATEGORY_NAME_TRANSLATION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Capstone — end-to-end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All tables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5200" b="1">
                <a:solidFill>
                  <a:srgbClr val="FFFFFF"/>
                </a:solidFill>
                <a:latin typeface="Georgia"/>
              </a:defRPr>
            </a:pPr>
            <a:r>
              <a:t>Good luck!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0">
                <a:solidFill>
                  <a:srgbClr val="CADCFC"/>
                </a:solidFill>
                <a:latin typeface="Calibri"/>
              </a:defRPr>
            </a:pPr>
            <a:r>
              <a:t>The point isn't to get everything right first time.</a:t>
            </a:r>
            <a:br/>
            <a:r>
              <a:t>It's to get curious, try things, and learn from what comes 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75488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02C39A"/>
                </a:solidFill>
                <a:latin typeface="Georgia"/>
              </a:defRPr>
            </a:pPr>
            <a:r>
              <a:t>See you in Week 1!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